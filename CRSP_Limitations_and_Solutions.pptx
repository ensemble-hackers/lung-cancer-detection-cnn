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645920"/>
            <a:ext cx="73152" cy="3474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554480"/>
            <a:ext cx="10424160" cy="2011680"/>
          </a:xfrm>
          <a:prstGeom prst="rect">
            <a:avLst/>
          </a:prstGeom>
          <a:noFill/>
        </p:spPr>
        <p:txBody>
          <a:bodyPr wrap="square">
            <a:spAutoFit/>
          </a:bodyPr>
          <a:lstStyle/>
          <a:p>
            <a:pPr>
              <a:defRPr sz="1100" b="1">
                <a:solidFill>
                  <a:srgbClr val="0EA5E9"/>
                </a:solidFill>
              </a:defRPr>
            </a:pPr>
            <a:r>
              <a:t>CRSP PROJECT DEFENSE | MEDICAL AI &amp; THORACIC ONCOLOGY</a:t>
            </a:r>
          </a:p>
          <a:p>
            <a:pPr>
              <a:spcBef>
                <a:spcPts val="1200"/>
              </a:spcBef>
              <a:defRPr sz="2800" b="1">
                <a:solidFill>
                  <a:srgbClr val="F8FAFC"/>
                </a:solidFill>
              </a:defRPr>
            </a:pPr>
            <a:r>
              <a:t>The 5 Limitations of Traditional Ways</a:t>
            </a:r>
            <a:br/>
            <a:r>
              <a:t>&amp; The Exact Solutions We Built in CRSP</a:t>
            </a:r>
          </a:p>
          <a:p>
            <a:pPr>
              <a:spcBef>
                <a:spcPts val="1000"/>
              </a:spcBef>
              <a:defRPr sz="1300">
                <a:solidFill>
                  <a:srgbClr val="94A3B8"/>
                </a:solidFill>
              </a:defRPr>
            </a:pPr>
            <a:r>
              <a:t>PulmoVision AI: Deep Transfer Learning for Automated Lung Cancer Detection &amp; Histopathological Subtyping</a:t>
            </a:r>
          </a:p>
        </p:txBody>
      </p:sp>
      <p:sp>
        <p:nvSpPr>
          <p:cNvPr id="5" name="Rounded Rectangle 4"/>
          <p:cNvSpPr/>
          <p:nvPr/>
        </p:nvSpPr>
        <p:spPr>
          <a:xfrm>
            <a:off x="731520" y="4389120"/>
            <a:ext cx="3328416" cy="16459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526280"/>
            <a:ext cx="2962656" cy="1371600"/>
          </a:xfrm>
          <a:prstGeom prst="rect">
            <a:avLst/>
          </a:prstGeom>
          <a:noFill/>
        </p:spPr>
        <p:txBody>
          <a:bodyPr wrap="square">
            <a:spAutoFit/>
          </a:bodyPr>
          <a:lstStyle/>
          <a:p>
            <a:pPr>
              <a:defRPr sz="900" b="1">
                <a:solidFill>
                  <a:srgbClr val="F43F5E"/>
                </a:solidFill>
              </a:defRPr>
            </a:pPr>
            <a:r>
              <a:t>THE CLINICAL DILEMMA</a:t>
            </a:r>
          </a:p>
          <a:p>
            <a:pPr>
              <a:spcBef>
                <a:spcPts val="400"/>
              </a:spcBef>
              <a:defRPr sz="1500" b="1">
                <a:solidFill>
                  <a:srgbClr val="F8FAFC"/>
                </a:solidFill>
              </a:defRPr>
            </a:pPr>
            <a:r>
              <a:t>&gt;75% Diagnosed Late</a:t>
            </a:r>
          </a:p>
          <a:p>
            <a:pPr>
              <a:spcBef>
                <a:spcPts val="400"/>
              </a:spcBef>
              <a:defRPr sz="950">
                <a:solidFill>
                  <a:srgbClr val="94A3B8"/>
                </a:solidFill>
              </a:defRPr>
            </a:pPr>
            <a:r>
              <a:t>1.8M global deaths/yr. Stage I survival is &gt;65%, collapsing to &lt;15% in Stage IV due to subtle early lesions.</a:t>
            </a:r>
          </a:p>
        </p:txBody>
      </p:sp>
      <p:sp>
        <p:nvSpPr>
          <p:cNvPr id="7" name="Rounded Rectangle 6"/>
          <p:cNvSpPr/>
          <p:nvPr/>
        </p:nvSpPr>
        <p:spPr>
          <a:xfrm>
            <a:off x="4389120" y="4389120"/>
            <a:ext cx="3328416" cy="16459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4526280"/>
            <a:ext cx="2962656" cy="1371600"/>
          </a:xfrm>
          <a:prstGeom prst="rect">
            <a:avLst/>
          </a:prstGeom>
          <a:noFill/>
        </p:spPr>
        <p:txBody>
          <a:bodyPr wrap="square">
            <a:spAutoFit/>
          </a:bodyPr>
          <a:lstStyle/>
          <a:p>
            <a:pPr>
              <a:defRPr sz="900" b="1">
                <a:solidFill>
                  <a:srgbClr val="F59E0B"/>
                </a:solidFill>
              </a:defRPr>
            </a:pPr>
            <a:r>
              <a:t>TRADITIONAL LIMITATION</a:t>
            </a:r>
          </a:p>
          <a:p>
            <a:pPr>
              <a:spcBef>
                <a:spcPts val="400"/>
              </a:spcBef>
              <a:defRPr sz="1500" b="1">
                <a:solidFill>
                  <a:srgbClr val="F8FAFC"/>
                </a:solidFill>
              </a:defRPr>
            </a:pPr>
            <a:r>
              <a:t>Binary 'Cancer/No Cancer'</a:t>
            </a:r>
          </a:p>
          <a:p>
            <a:pPr>
              <a:spcBef>
                <a:spcPts val="400"/>
              </a:spcBef>
              <a:defRPr sz="950">
                <a:solidFill>
                  <a:srgbClr val="94A3B8"/>
                </a:solidFill>
              </a:defRPr>
            </a:pPr>
            <a:r>
              <a:t>Conventional tools &amp; academic models ignore histological subtyping needed for chemotherapy vs. surgery.</a:t>
            </a:r>
          </a:p>
        </p:txBody>
      </p:sp>
      <p:sp>
        <p:nvSpPr>
          <p:cNvPr id="9" name="Rounded Rectangle 8"/>
          <p:cNvSpPr/>
          <p:nvPr/>
        </p:nvSpPr>
        <p:spPr>
          <a:xfrm>
            <a:off x="8046720" y="4389120"/>
            <a:ext cx="3328416" cy="16459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4526280"/>
            <a:ext cx="2962656" cy="1371600"/>
          </a:xfrm>
          <a:prstGeom prst="rect">
            <a:avLst/>
          </a:prstGeom>
          <a:noFill/>
        </p:spPr>
        <p:txBody>
          <a:bodyPr wrap="square">
            <a:spAutoFit/>
          </a:bodyPr>
          <a:lstStyle/>
          <a:p>
            <a:pPr>
              <a:defRPr sz="900" b="1">
                <a:solidFill>
                  <a:srgbClr val="10B981"/>
                </a:solidFill>
              </a:defRPr>
            </a:pPr>
            <a:r>
              <a:t>THE CRSP SOLUTION</a:t>
            </a:r>
          </a:p>
          <a:p>
            <a:pPr>
              <a:spcBef>
                <a:spcPts val="400"/>
              </a:spcBef>
              <a:defRPr sz="1500" b="1">
                <a:solidFill>
                  <a:srgbClr val="F8FAFC"/>
                </a:solidFill>
              </a:defRPr>
            </a:pPr>
            <a:r>
              <a:t>PulmoVision AI (&lt;95ms)</a:t>
            </a:r>
          </a:p>
          <a:p>
            <a:pPr>
              <a:spcBef>
                <a:spcPts val="400"/>
              </a:spcBef>
              <a:defRPr sz="950">
                <a:solidFill>
                  <a:srgbClr val="94A3B8"/>
                </a:solidFill>
              </a:defRPr>
            </a:pPr>
            <a:r>
              <a:t>4-class subtyping on 350x350 CT scans with Xception + GAP, eliminating false alarms &amp; radiologist fatigue.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274320"/>
          </a:xfrm>
          <a:prstGeom prst="rect">
            <a:avLst/>
          </a:prstGeom>
          <a:noFill/>
        </p:spPr>
        <p:txBody>
          <a:bodyPr wrap="square" lIns="0" tIns="0" rIns="0" bIns="0">
            <a:spAutoFit/>
          </a:bodyPr>
          <a:lstStyle/>
          <a:p>
            <a:pPr>
              <a:defRPr sz="950" b="1">
                <a:solidFill>
                  <a:srgbClr val="0EA5E9"/>
                </a:solidFill>
              </a:defRPr>
            </a:pPr>
            <a:r>
              <a:t>PAGE 1: INHERENT BOTTLENECKS</a:t>
            </a:r>
          </a:p>
        </p:txBody>
      </p:sp>
      <p:sp>
        <p:nvSpPr>
          <p:cNvPr id="4" name="TextBox 3"/>
          <p:cNvSpPr txBox="1"/>
          <p:nvPr/>
        </p:nvSpPr>
        <p:spPr>
          <a:xfrm>
            <a:off x="731520" y="594360"/>
            <a:ext cx="10698480" cy="502920"/>
          </a:xfrm>
          <a:prstGeom prst="rect">
            <a:avLst/>
          </a:prstGeom>
          <a:noFill/>
        </p:spPr>
        <p:txBody>
          <a:bodyPr wrap="square" lIns="0" tIns="0" rIns="0" bIns="0">
            <a:spAutoFit/>
          </a:bodyPr>
          <a:lstStyle/>
          <a:p>
            <a:pPr>
              <a:defRPr sz="2100" b="1">
                <a:solidFill>
                  <a:srgbClr val="F8FAFC"/>
                </a:solidFill>
              </a:defRPr>
            </a:pPr>
            <a:r>
              <a:t>The 5 Critical Limitations of Traditional Diagnostic Methods</a:t>
            </a:r>
          </a:p>
        </p:txBody>
      </p:sp>
      <p:sp>
        <p:nvSpPr>
          <p:cNvPr id="5" name="TextBox 4"/>
          <p:cNvSpPr txBox="1"/>
          <p:nvPr/>
        </p:nvSpPr>
        <p:spPr>
          <a:xfrm>
            <a:off x="731520" y="1115568"/>
            <a:ext cx="7772400" cy="320040"/>
          </a:xfrm>
          <a:prstGeom prst="rect">
            <a:avLst/>
          </a:prstGeom>
          <a:noFill/>
        </p:spPr>
        <p:txBody>
          <a:bodyPr wrap="square" lIns="0" tIns="0" rIns="0" bIns="0">
            <a:spAutoFit/>
          </a:bodyPr>
          <a:lstStyle/>
          <a:p>
            <a:pPr>
              <a:defRPr sz="1100">
                <a:solidFill>
                  <a:srgbClr val="94A3B8"/>
                </a:solidFill>
              </a:defRPr>
            </a:pPr>
            <a:r>
              <a:t>Click on any problem card to jump directly to its engineered solution in PulmoVision AI</a:t>
            </a:r>
          </a:p>
        </p:txBody>
      </p:sp>
      <p:sp>
        <p:nvSpPr>
          <p:cNvPr id="6" name="Rounded Rectangle 5"/>
          <p:cNvSpPr/>
          <p:nvPr/>
        </p:nvSpPr>
        <p:spPr>
          <a:xfrm>
            <a:off x="8778240" y="548640"/>
            <a:ext cx="2651760" cy="438912"/>
          </a:xfrm>
          <a:prstGeom prst="roundRect">
            <a:avLst/>
          </a:prstGeom>
          <a:solidFill>
            <a:srgbClr val="0F2D41"/>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0EA5E9"/>
                </a:solidFill>
              </a:rPr>
              <a:t>➡️ Jump to Solutions Slide</a:t>
            </a:r>
          </a:p>
        </p:txBody>
      </p:sp>
      <p:sp>
        <p:nvSpPr>
          <p:cNvPr id="7" name="Rounded Rectangle 6"/>
          <p:cNvSpPr/>
          <p:nvPr/>
        </p:nvSpPr>
        <p:spPr>
          <a:xfrm>
            <a:off x="731520" y="1600200"/>
            <a:ext cx="3328416" cy="2377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600200"/>
            <a:ext cx="3328416" cy="73152"/>
          </a:xfrm>
          <a:prstGeom prst="round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37360"/>
            <a:ext cx="2962656" cy="2103120"/>
          </a:xfrm>
          <a:prstGeom prst="rect">
            <a:avLst/>
          </a:prstGeom>
          <a:noFill/>
        </p:spPr>
        <p:txBody>
          <a:bodyPr wrap="square">
            <a:spAutoFit/>
          </a:bodyPr>
          <a:lstStyle/>
          <a:p>
            <a:pPr>
              <a:defRPr sz="850" b="1">
                <a:solidFill>
                  <a:srgbClr val="F43F5E"/>
                </a:solidFill>
              </a:defRPr>
            </a:pPr>
            <a:r>
              <a:t>PROBLEM 01 • CLINICAL DEFICIENCY</a:t>
            </a:r>
          </a:p>
          <a:p>
            <a:pPr>
              <a:spcBef>
                <a:spcPts val="300"/>
              </a:spcBef>
              <a:defRPr sz="1250" b="1">
                <a:solidFill>
                  <a:srgbClr val="F8FAFC"/>
                </a:solidFill>
              </a:defRPr>
            </a:pPr>
            <a:r>
              <a:t>The 'Binary Detection' Trap</a:t>
            </a:r>
          </a:p>
          <a:p>
            <a:pPr>
              <a:spcBef>
                <a:spcPts val="400"/>
              </a:spcBef>
              <a:defRPr sz="850">
                <a:solidFill>
                  <a:srgbClr val="94A3B8"/>
                </a:solidFill>
              </a:defRPr>
            </a:pPr>
            <a:r>
              <a:t>Traditional CAD systems and academic CNNs classify scans simply as 'Cancer vs. Normal'. In clinical oncology, this is insufficient because Adenocarcinoma, Squamous Cell, and Large Cell carcinomas require radically different surgical, chemotherapy, and targeted drug regimens.</a:t>
            </a:r>
          </a:p>
          <a:p>
            <a:pPr>
              <a:spcBef>
                <a:spcPts val="800"/>
              </a:spcBef>
            </a:pPr>
            <a:r>
              <a:rPr sz="850" b="1">
                <a:solidFill>
                  <a:srgbClr val="0EA5E9"/>
                </a:solidFill>
              </a:rPr>
              <a:t>➡️ Direct Solution: 4-Class Histological Subtyping</a:t>
            </a:r>
          </a:p>
        </p:txBody>
      </p:sp>
      <p:sp>
        <p:nvSpPr>
          <p:cNvPr id="10" name="Rounded Rectangle 9"/>
          <p:cNvSpPr/>
          <p:nvPr/>
        </p:nvSpPr>
        <p:spPr>
          <a:xfrm>
            <a:off x="4389120" y="1600200"/>
            <a:ext cx="3328416" cy="2377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89120" y="1600200"/>
            <a:ext cx="3328416" cy="73152"/>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737360"/>
            <a:ext cx="2962656" cy="2103120"/>
          </a:xfrm>
          <a:prstGeom prst="rect">
            <a:avLst/>
          </a:prstGeom>
          <a:noFill/>
        </p:spPr>
        <p:txBody>
          <a:bodyPr wrap="square">
            <a:spAutoFit/>
          </a:bodyPr>
          <a:lstStyle/>
          <a:p>
            <a:pPr>
              <a:defRPr sz="850" b="1">
                <a:solidFill>
                  <a:srgbClr val="F59E0B"/>
                </a:solidFill>
              </a:defRPr>
            </a:pPr>
            <a:r>
              <a:t>PROBLEM 02 • SPATIAL ARTIFACTS</a:t>
            </a:r>
          </a:p>
          <a:p>
            <a:pPr>
              <a:spcBef>
                <a:spcPts val="300"/>
              </a:spcBef>
              <a:defRPr sz="1250" b="1">
                <a:solidFill>
                  <a:srgbClr val="F8FAFC"/>
                </a:solidFill>
              </a:defRPr>
            </a:pPr>
            <a:r>
              <a:t>Destructive Resolution Downsampling</a:t>
            </a:r>
          </a:p>
          <a:p>
            <a:pPr>
              <a:spcBef>
                <a:spcPts val="400"/>
              </a:spcBef>
              <a:defRPr sz="850">
                <a:solidFill>
                  <a:srgbClr val="94A3B8"/>
                </a:solidFill>
              </a:defRPr>
            </a:pPr>
            <a:r>
              <a:t>Standard vision models forcefully resize thoracic CT scans down to 224x224 pixels. This downsampling obliterates micro-spiculations, ground-glass opacities (GGO), and delicate nodule margin contours essential for differential diagnosis.</a:t>
            </a:r>
          </a:p>
          <a:p>
            <a:pPr>
              <a:spcBef>
                <a:spcPts val="800"/>
              </a:spcBef>
            </a:pPr>
            <a:r>
              <a:rPr sz="850" b="1">
                <a:solidFill>
                  <a:srgbClr val="0EA5E9"/>
                </a:solidFill>
              </a:rPr>
              <a:t>➡️ Direct Solution: High-Fidelity 350x350 Pipeline</a:t>
            </a:r>
          </a:p>
        </p:txBody>
      </p:sp>
      <p:sp>
        <p:nvSpPr>
          <p:cNvPr id="13" name="Rounded Rectangle 12"/>
          <p:cNvSpPr/>
          <p:nvPr/>
        </p:nvSpPr>
        <p:spPr>
          <a:xfrm>
            <a:off x="8046720" y="1600200"/>
            <a:ext cx="3328416" cy="2377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46720" y="1600200"/>
            <a:ext cx="3328416" cy="73152"/>
          </a:xfrm>
          <a:prstGeom prst="round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737360"/>
            <a:ext cx="2962656" cy="2103120"/>
          </a:xfrm>
          <a:prstGeom prst="rect">
            <a:avLst/>
          </a:prstGeom>
          <a:noFill/>
        </p:spPr>
        <p:txBody>
          <a:bodyPr wrap="square">
            <a:spAutoFit/>
          </a:bodyPr>
          <a:lstStyle/>
          <a:p>
            <a:pPr>
              <a:defRPr sz="850" b="1">
                <a:solidFill>
                  <a:srgbClr val="A855F7"/>
                </a:solidFill>
              </a:defRPr>
            </a:pPr>
            <a:r>
              <a:t>PROBLEM 03 • ARCHITECTURAL FLAW</a:t>
            </a:r>
          </a:p>
          <a:p>
            <a:pPr>
              <a:spcBef>
                <a:spcPts val="300"/>
              </a:spcBef>
              <a:defRPr sz="1250" b="1">
                <a:solidFill>
                  <a:srgbClr val="F8FAFC"/>
                </a:solidFill>
              </a:defRPr>
            </a:pPr>
            <a:r>
              <a:t>Severe Dense Overfitting via Flatten()</a:t>
            </a:r>
          </a:p>
          <a:p>
            <a:pPr>
              <a:spcBef>
                <a:spcPts val="400"/>
              </a:spcBef>
              <a:defRPr sz="850">
                <a:solidFill>
                  <a:srgbClr val="94A3B8"/>
                </a:solidFill>
              </a:defRPr>
            </a:pPr>
            <a:r>
              <a:t>Standard CNNs use Flatten() layers between convolutional backbones and classifiers, generating 247,000+ dense connections and millions of weights. This leads to severe parameter memorization and poor generalization on specialized medical datasets.</a:t>
            </a:r>
          </a:p>
          <a:p>
            <a:pPr>
              <a:spcBef>
                <a:spcPts val="800"/>
              </a:spcBef>
            </a:pPr>
            <a:r>
              <a:rPr sz="850" b="1">
                <a:solidFill>
                  <a:srgbClr val="0EA5E9"/>
                </a:solidFill>
              </a:rPr>
              <a:t>➡️ Direct Solution: Xception + Global Average Pooling</a:t>
            </a:r>
          </a:p>
        </p:txBody>
      </p:sp>
      <p:sp>
        <p:nvSpPr>
          <p:cNvPr id="16" name="Rounded Rectangle 15"/>
          <p:cNvSpPr/>
          <p:nvPr/>
        </p:nvSpPr>
        <p:spPr>
          <a:xfrm>
            <a:off x="731520" y="4160520"/>
            <a:ext cx="5166360" cy="2148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1520" y="4160520"/>
            <a:ext cx="5166360" cy="73152"/>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4297680"/>
            <a:ext cx="4709160" cy="1874520"/>
          </a:xfrm>
          <a:prstGeom prst="rect">
            <a:avLst/>
          </a:prstGeom>
          <a:noFill/>
        </p:spPr>
        <p:txBody>
          <a:bodyPr wrap="square">
            <a:spAutoFit/>
          </a:bodyPr>
          <a:lstStyle/>
          <a:p>
            <a:pPr>
              <a:defRPr sz="850" b="1">
                <a:solidFill>
                  <a:srgbClr val="0EA5E9"/>
                </a:solidFill>
              </a:defRPr>
            </a:pPr>
            <a:r>
              <a:t>PROBLEM 04 • WORKFLOW BOTTLENECK</a:t>
            </a:r>
          </a:p>
          <a:p>
            <a:pPr>
              <a:spcBef>
                <a:spcPts val="300"/>
              </a:spcBef>
              <a:defRPr sz="1250" b="1">
                <a:solidFill>
                  <a:srgbClr val="F8FAFC"/>
                </a:solidFill>
              </a:defRPr>
            </a:pPr>
            <a:r>
              <a:t>Radiologist Burnout &amp; Diagnostic Latency</a:t>
            </a:r>
          </a:p>
          <a:p>
            <a:pPr>
              <a:spcBef>
                <a:spcPts val="400"/>
              </a:spcBef>
              <a:defRPr sz="850">
                <a:solidFill>
                  <a:srgbClr val="94A3B8"/>
                </a:solidFill>
              </a:defRPr>
            </a:pPr>
            <a:r>
              <a:t>A single chest CT generates hundreds of axial slices. Reviewing thousands of images daily induces severe cognitive fatigue, leading to up to 25% inter-observer disagreement on borderline nodules and multi-week turnaround backlogs.</a:t>
            </a:r>
          </a:p>
          <a:p>
            <a:pPr>
              <a:spcBef>
                <a:spcPts val="600"/>
              </a:spcBef>
            </a:pPr>
            <a:r>
              <a:rPr sz="850" b="1">
                <a:solidFill>
                  <a:srgbClr val="0EA5E9"/>
                </a:solidFill>
              </a:rPr>
              <a:t>➡️ Direct Solution: Sub-95ms Automated Pre-Triage</a:t>
            </a:r>
          </a:p>
        </p:txBody>
      </p:sp>
      <p:sp>
        <p:nvSpPr>
          <p:cNvPr id="19" name="Rounded Rectangle 18"/>
          <p:cNvSpPr/>
          <p:nvPr/>
        </p:nvSpPr>
        <p:spPr>
          <a:xfrm>
            <a:off x="6217920" y="4160520"/>
            <a:ext cx="5166360" cy="2148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217920" y="4160520"/>
            <a:ext cx="5166360" cy="73152"/>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297680"/>
            <a:ext cx="4709160" cy="1874520"/>
          </a:xfrm>
          <a:prstGeom prst="rect">
            <a:avLst/>
          </a:prstGeom>
          <a:noFill/>
        </p:spPr>
        <p:txBody>
          <a:bodyPr wrap="square">
            <a:spAutoFit/>
          </a:bodyPr>
          <a:lstStyle/>
          <a:p>
            <a:pPr>
              <a:defRPr sz="850" b="1">
                <a:solidFill>
                  <a:srgbClr val="10B981"/>
                </a:solidFill>
              </a:defRPr>
            </a:pPr>
            <a:r>
              <a:t>PROBLEM 05 • CLINICAL DEPLOYMENT GAP</a:t>
            </a:r>
          </a:p>
          <a:p>
            <a:pPr>
              <a:spcBef>
                <a:spcPts val="300"/>
              </a:spcBef>
              <a:defRPr sz="1250" b="1">
                <a:solidFill>
                  <a:srgbClr val="F8FAFC"/>
                </a:solidFill>
              </a:defRPr>
            </a:pPr>
            <a:r>
              <a:t>Academic Black-Box Notebooks</a:t>
            </a:r>
          </a:p>
          <a:p>
            <a:pPr>
              <a:spcBef>
                <a:spcPts val="400"/>
              </a:spcBef>
              <a:defRPr sz="850">
                <a:solidFill>
                  <a:srgbClr val="94A3B8"/>
                </a:solidFill>
              </a:defRPr>
            </a:pPr>
            <a:r>
              <a:t>Most research algorithms remain trapped in messy Jupyter notebooks without standalone CLI execution, automated weight checkpoints, or interpretable visual probability distributions for oncologist decision-making.</a:t>
            </a:r>
          </a:p>
          <a:p>
            <a:pPr>
              <a:spcBef>
                <a:spcPts val="600"/>
              </a:spcBef>
            </a:pPr>
            <a:r>
              <a:rPr sz="850" b="1">
                <a:solidFill>
                  <a:srgbClr val="0EA5E9"/>
                </a:solidFill>
              </a:rPr>
              <a:t>➡️ Direct Solution: Dual Visual Diagnostic Reporting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274320"/>
          </a:xfrm>
          <a:prstGeom prst="rect">
            <a:avLst/>
          </a:prstGeom>
          <a:noFill/>
        </p:spPr>
        <p:txBody>
          <a:bodyPr wrap="square" lIns="0" tIns="0" rIns="0" bIns="0">
            <a:spAutoFit/>
          </a:bodyPr>
          <a:lstStyle/>
          <a:p>
            <a:pPr>
              <a:defRPr sz="950" b="1">
                <a:solidFill>
                  <a:srgbClr val="0EA5E9"/>
                </a:solidFill>
              </a:defRPr>
            </a:pPr>
            <a:r>
              <a:t>PAGE 2: ENGINEERED SOLUTIONS</a:t>
            </a:r>
          </a:p>
        </p:txBody>
      </p:sp>
      <p:sp>
        <p:nvSpPr>
          <p:cNvPr id="4" name="TextBox 3"/>
          <p:cNvSpPr txBox="1"/>
          <p:nvPr/>
        </p:nvSpPr>
        <p:spPr>
          <a:xfrm>
            <a:off x="731520" y="594360"/>
            <a:ext cx="10698480" cy="502920"/>
          </a:xfrm>
          <a:prstGeom prst="rect">
            <a:avLst/>
          </a:prstGeom>
          <a:noFill/>
        </p:spPr>
        <p:txBody>
          <a:bodyPr wrap="square" lIns="0" tIns="0" rIns="0" bIns="0">
            <a:spAutoFit/>
          </a:bodyPr>
          <a:lstStyle/>
          <a:p>
            <a:pPr>
              <a:defRPr sz="2100" b="1">
                <a:solidFill>
                  <a:srgbClr val="F8FAFC"/>
                </a:solidFill>
              </a:defRPr>
            </a:pPr>
            <a:r>
              <a:t>The 5 Exact Solutions Engineered in PulmoVision AI (CRSP)</a:t>
            </a:r>
          </a:p>
        </p:txBody>
      </p:sp>
      <p:sp>
        <p:nvSpPr>
          <p:cNvPr id="5" name="TextBox 4"/>
          <p:cNvSpPr txBox="1"/>
          <p:nvPr/>
        </p:nvSpPr>
        <p:spPr>
          <a:xfrm>
            <a:off x="731520" y="1115568"/>
            <a:ext cx="7772400" cy="320040"/>
          </a:xfrm>
          <a:prstGeom prst="rect">
            <a:avLst/>
          </a:prstGeom>
          <a:noFill/>
        </p:spPr>
        <p:txBody>
          <a:bodyPr wrap="square" lIns="0" tIns="0" rIns="0" bIns="0">
            <a:spAutoFit/>
          </a:bodyPr>
          <a:lstStyle/>
          <a:p>
            <a:pPr>
              <a:defRPr sz="1100">
                <a:solidFill>
                  <a:srgbClr val="94A3B8"/>
                </a:solidFill>
              </a:defRPr>
            </a:pPr>
            <a:r>
              <a:t>Direct 1-to-1 technological counterparts resolving each traditional limitation. Click to navigate back.</a:t>
            </a:r>
          </a:p>
        </p:txBody>
      </p:sp>
      <p:sp>
        <p:nvSpPr>
          <p:cNvPr id="6" name="Rounded Rectangle 5"/>
          <p:cNvSpPr/>
          <p:nvPr/>
        </p:nvSpPr>
        <p:spPr>
          <a:xfrm>
            <a:off x="8778240" y="548640"/>
            <a:ext cx="2651760" cy="438912"/>
          </a:xfrm>
          <a:prstGeom prst="roundRect">
            <a:avLst/>
          </a:prstGeom>
          <a:solidFill>
            <a:srgbClr val="0F2D41"/>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0EA5E9"/>
                </a:solidFill>
              </a:rPr>
              <a:t>⬅️ Back to Problems Slide</a:t>
            </a:r>
          </a:p>
        </p:txBody>
      </p:sp>
      <p:sp>
        <p:nvSpPr>
          <p:cNvPr id="7" name="Rounded Rectangle 6"/>
          <p:cNvSpPr/>
          <p:nvPr/>
        </p:nvSpPr>
        <p:spPr>
          <a:xfrm>
            <a:off x="731520" y="1600200"/>
            <a:ext cx="3328416" cy="2377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600200"/>
            <a:ext cx="3328416" cy="73152"/>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37360"/>
            <a:ext cx="2962656" cy="2103120"/>
          </a:xfrm>
          <a:prstGeom prst="rect">
            <a:avLst/>
          </a:prstGeom>
          <a:noFill/>
        </p:spPr>
        <p:txBody>
          <a:bodyPr wrap="square">
            <a:spAutoFit/>
          </a:bodyPr>
          <a:lstStyle/>
          <a:p>
            <a:pPr>
              <a:defRPr sz="800" b="1">
                <a:solidFill>
                  <a:srgbClr val="10B981"/>
                </a:solidFill>
              </a:defRPr>
            </a:pPr>
            <a:r>
              <a:t>SOLUTION 01 • DIRECTLY SOLVES PROBLEM 01</a:t>
            </a:r>
          </a:p>
          <a:p>
            <a:pPr>
              <a:spcBef>
                <a:spcPts val="300"/>
              </a:spcBef>
              <a:defRPr sz="1200" b="1">
                <a:solidFill>
                  <a:srgbClr val="F8FAFC"/>
                </a:solidFill>
              </a:defRPr>
            </a:pPr>
            <a:r>
              <a:t>4-Class Histological Subtyping</a:t>
            </a:r>
          </a:p>
          <a:p>
            <a:pPr>
              <a:spcBef>
                <a:spcPts val="400"/>
              </a:spcBef>
              <a:defRPr sz="850">
                <a:solidFill>
                  <a:srgbClr val="94A3B8"/>
                </a:solidFill>
              </a:defRPr>
            </a:pPr>
            <a:r>
              <a:t>Classifies scans concurrently into Normal, Adenocarcinoma, Squamous Cell Carcinoma, and Large Cell Carcinoma. Delivers actionable therapeutic intelligence to oncologists before invasive biopsy results arrive.</a:t>
            </a:r>
          </a:p>
          <a:p>
            <a:pPr>
              <a:spcBef>
                <a:spcPts val="800"/>
              </a:spcBef>
            </a:pPr>
            <a:r>
              <a:rPr sz="850" b="1">
                <a:solidFill>
                  <a:srgbClr val="10B981"/>
                </a:solidFill>
              </a:rPr>
              <a:t>⬅️ Corresponds to Problem 01 (Binary Trap)</a:t>
            </a:r>
          </a:p>
        </p:txBody>
      </p:sp>
      <p:sp>
        <p:nvSpPr>
          <p:cNvPr id="10" name="Rounded Rectangle 9"/>
          <p:cNvSpPr/>
          <p:nvPr/>
        </p:nvSpPr>
        <p:spPr>
          <a:xfrm>
            <a:off x="4389120" y="1600200"/>
            <a:ext cx="3328416" cy="2377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89120" y="1600200"/>
            <a:ext cx="3328416" cy="73152"/>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737360"/>
            <a:ext cx="2962656" cy="2103120"/>
          </a:xfrm>
          <a:prstGeom prst="rect">
            <a:avLst/>
          </a:prstGeom>
          <a:noFill/>
        </p:spPr>
        <p:txBody>
          <a:bodyPr wrap="square">
            <a:spAutoFit/>
          </a:bodyPr>
          <a:lstStyle/>
          <a:p>
            <a:pPr>
              <a:defRPr sz="800" b="1">
                <a:solidFill>
                  <a:srgbClr val="0EA5E9"/>
                </a:solidFill>
              </a:defRPr>
            </a:pPr>
            <a:r>
              <a:t>SOLUTION 02 • DIRECTLY SOLVES PROBLEM 02</a:t>
            </a:r>
          </a:p>
          <a:p>
            <a:pPr>
              <a:spcBef>
                <a:spcPts val="300"/>
              </a:spcBef>
              <a:defRPr sz="1200" b="1">
                <a:solidFill>
                  <a:srgbClr val="F8FAFC"/>
                </a:solidFill>
              </a:defRPr>
            </a:pPr>
            <a:r>
              <a:t>High-Resolution 350x350 Input Pipeline</a:t>
            </a:r>
          </a:p>
          <a:p>
            <a:pPr>
              <a:spcBef>
                <a:spcPts val="400"/>
              </a:spcBef>
              <a:defRPr sz="850">
                <a:solidFill>
                  <a:srgbClr val="94A3B8"/>
                </a:solidFill>
              </a:defRPr>
            </a:pPr>
            <a:r>
              <a:t>Processes images at 350x350x3 with bilinear interpolation. Preserves fine micro-spicular margins, subtle Ground-Glass Opacities (GGO), and edge calcifications necessary to distinguish ambiguous nodule phenotypes.</a:t>
            </a:r>
          </a:p>
          <a:p>
            <a:pPr>
              <a:spcBef>
                <a:spcPts val="800"/>
              </a:spcBef>
            </a:pPr>
            <a:r>
              <a:rPr sz="850" b="1">
                <a:solidFill>
                  <a:srgbClr val="10B981"/>
                </a:solidFill>
              </a:rPr>
              <a:t>⬅️ Corresponds to Problem 02 (Downscaling)</a:t>
            </a:r>
          </a:p>
        </p:txBody>
      </p:sp>
      <p:sp>
        <p:nvSpPr>
          <p:cNvPr id="13" name="Rounded Rectangle 12"/>
          <p:cNvSpPr/>
          <p:nvPr/>
        </p:nvSpPr>
        <p:spPr>
          <a:xfrm>
            <a:off x="8046720" y="1600200"/>
            <a:ext cx="3328416" cy="2377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46720" y="1600200"/>
            <a:ext cx="3328416" cy="73152"/>
          </a:xfrm>
          <a:prstGeom prst="round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737360"/>
            <a:ext cx="2962656" cy="2103120"/>
          </a:xfrm>
          <a:prstGeom prst="rect">
            <a:avLst/>
          </a:prstGeom>
          <a:noFill/>
        </p:spPr>
        <p:txBody>
          <a:bodyPr wrap="square">
            <a:spAutoFit/>
          </a:bodyPr>
          <a:lstStyle/>
          <a:p>
            <a:pPr>
              <a:defRPr sz="800" b="1">
                <a:solidFill>
                  <a:srgbClr val="A855F7"/>
                </a:solidFill>
              </a:defRPr>
            </a:pPr>
            <a:r>
              <a:t>SOLUTION 03 • DIRECTLY SOLVES PROBLEM 03</a:t>
            </a:r>
          </a:p>
          <a:p>
            <a:pPr>
              <a:spcBef>
                <a:spcPts val="300"/>
              </a:spcBef>
              <a:defRPr sz="1200" b="1">
                <a:solidFill>
                  <a:srgbClr val="F8FAFC"/>
                </a:solidFill>
              </a:defRPr>
            </a:pPr>
            <a:r>
              <a:t>Xception Backbone + Global Average Pooling</a:t>
            </a:r>
          </a:p>
          <a:p>
            <a:pPr>
              <a:spcBef>
                <a:spcPts val="400"/>
              </a:spcBef>
              <a:defRPr sz="850">
                <a:solidFill>
                  <a:srgbClr val="94A3B8"/>
                </a:solidFill>
              </a:defRPr>
            </a:pPr>
            <a:r>
              <a:t>Replaces standard convolution and Flatten() with Depthwise Separable Convolutions and GlobalAveragePooling2D. Compresses 2048 feature maps directly to spatial means, capping the dense head to only 8,196 parameters.</a:t>
            </a:r>
          </a:p>
          <a:p>
            <a:pPr>
              <a:spcBef>
                <a:spcPts val="800"/>
              </a:spcBef>
            </a:pPr>
            <a:r>
              <a:rPr sz="850" b="1">
                <a:solidFill>
                  <a:srgbClr val="10B981"/>
                </a:solidFill>
              </a:rPr>
              <a:t>⬅️ Corresponds to Problem 03 (Dense Overfitting)</a:t>
            </a:r>
          </a:p>
        </p:txBody>
      </p:sp>
      <p:sp>
        <p:nvSpPr>
          <p:cNvPr id="16" name="Rounded Rectangle 15"/>
          <p:cNvSpPr/>
          <p:nvPr/>
        </p:nvSpPr>
        <p:spPr>
          <a:xfrm>
            <a:off x="731520" y="4160520"/>
            <a:ext cx="5166360" cy="2148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1520" y="4160520"/>
            <a:ext cx="5166360" cy="73152"/>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4297680"/>
            <a:ext cx="4709160" cy="1874520"/>
          </a:xfrm>
          <a:prstGeom prst="rect">
            <a:avLst/>
          </a:prstGeom>
          <a:noFill/>
        </p:spPr>
        <p:txBody>
          <a:bodyPr wrap="square">
            <a:spAutoFit/>
          </a:bodyPr>
          <a:lstStyle/>
          <a:p>
            <a:pPr>
              <a:defRPr sz="800" b="1">
                <a:solidFill>
                  <a:srgbClr val="F59E0B"/>
                </a:solidFill>
              </a:defRPr>
            </a:pPr>
            <a:r>
              <a:t>SOLUTION 04 • DIRECTLY SOLVES PROBLEM 04</a:t>
            </a:r>
          </a:p>
          <a:p>
            <a:pPr>
              <a:spcBef>
                <a:spcPts val="300"/>
              </a:spcBef>
              <a:defRPr sz="1200" b="1">
                <a:solidFill>
                  <a:srgbClr val="F8FAFC"/>
                </a:solidFill>
              </a:defRPr>
            </a:pPr>
            <a:r>
              <a:t>Sub-95ms Pre-Triage Inference Engine</a:t>
            </a:r>
          </a:p>
          <a:p>
            <a:pPr>
              <a:spcBef>
                <a:spcPts val="400"/>
              </a:spcBef>
              <a:defRPr sz="850">
                <a:solidFill>
                  <a:srgbClr val="94A3B8"/>
                </a:solidFill>
              </a:defRPr>
            </a:pPr>
            <a:r>
              <a:t>Runs single-slice inference in &lt;95ms on standard hardware. Acts as a high-speed tireless 'second reader', automatically screening full volume stacks and prioritizing high-risk suspicious slices for immediate radiologist review.</a:t>
            </a:r>
          </a:p>
          <a:p>
            <a:pPr>
              <a:spcBef>
                <a:spcPts val="600"/>
              </a:spcBef>
            </a:pPr>
            <a:r>
              <a:rPr sz="850" b="1">
                <a:solidFill>
                  <a:srgbClr val="10B981"/>
                </a:solidFill>
              </a:rPr>
              <a:t>⬅️ Corresponds to Problem 04 (Radiologist Burnout)</a:t>
            </a:r>
          </a:p>
        </p:txBody>
      </p:sp>
      <p:sp>
        <p:nvSpPr>
          <p:cNvPr id="19" name="Rounded Rectangle 18"/>
          <p:cNvSpPr/>
          <p:nvPr/>
        </p:nvSpPr>
        <p:spPr>
          <a:xfrm>
            <a:off x="6217920" y="4160520"/>
            <a:ext cx="5166360" cy="2148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217920" y="4160520"/>
            <a:ext cx="5166360" cy="73152"/>
          </a:xfrm>
          <a:prstGeom prst="round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297680"/>
            <a:ext cx="4709160" cy="1874520"/>
          </a:xfrm>
          <a:prstGeom prst="rect">
            <a:avLst/>
          </a:prstGeom>
          <a:noFill/>
        </p:spPr>
        <p:txBody>
          <a:bodyPr wrap="square">
            <a:spAutoFit/>
          </a:bodyPr>
          <a:lstStyle/>
          <a:p>
            <a:pPr>
              <a:defRPr sz="800" b="1">
                <a:solidFill>
                  <a:srgbClr val="F43F5E"/>
                </a:solidFill>
              </a:defRPr>
            </a:pPr>
            <a:r>
              <a:t>SOLUTION 05 • DIRECTLY SOLVES PROBLEM 05</a:t>
            </a:r>
          </a:p>
          <a:p>
            <a:pPr>
              <a:spcBef>
                <a:spcPts val="300"/>
              </a:spcBef>
              <a:defRPr sz="1200" b="1">
                <a:solidFill>
                  <a:srgbClr val="F8FAFC"/>
                </a:solidFill>
              </a:defRPr>
            </a:pPr>
            <a:r>
              <a:t>Dual Visual Diagnostic Reporting Engine</a:t>
            </a:r>
          </a:p>
          <a:p>
            <a:pPr>
              <a:spcBef>
                <a:spcPts val="400"/>
              </a:spcBef>
              <a:defRPr sz="850">
                <a:solidFill>
                  <a:srgbClr val="94A3B8"/>
                </a:solidFill>
              </a:defRPr>
            </a:pPr>
            <a:r>
              <a:t>Built via standalone inference.py with zero notebook dependency. Automatically renders prediction_result.png combining the input CT slice side-by-side with full posterior probability distribution meters for transparent clinical auditing.</a:t>
            </a:r>
          </a:p>
          <a:p>
            <a:pPr>
              <a:spcBef>
                <a:spcPts val="600"/>
              </a:spcBef>
            </a:pPr>
            <a:r>
              <a:rPr sz="850" b="1">
                <a:solidFill>
                  <a:srgbClr val="10B981"/>
                </a:solidFill>
              </a:rPr>
              <a:t>⬅️ Corresponds to Problem 05 (Academic Notebooks)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7315200" cy="274320"/>
          </a:xfrm>
          <a:prstGeom prst="rect">
            <a:avLst/>
          </a:prstGeom>
          <a:noFill/>
        </p:spPr>
        <p:txBody>
          <a:bodyPr wrap="square" lIns="0" tIns="0" rIns="0" bIns="0">
            <a:spAutoFit/>
          </a:bodyPr>
          <a:lstStyle/>
          <a:p>
            <a:pPr>
              <a:defRPr sz="950" b="1">
                <a:solidFill>
                  <a:srgbClr val="0EA5E9"/>
                </a:solidFill>
              </a:defRPr>
            </a:pPr>
            <a:r>
              <a:t>HEAD-TO-HEAD BENCHMARKING</a:t>
            </a:r>
          </a:p>
        </p:txBody>
      </p:sp>
      <p:sp>
        <p:nvSpPr>
          <p:cNvPr id="4" name="TextBox 3"/>
          <p:cNvSpPr txBox="1"/>
          <p:nvPr/>
        </p:nvSpPr>
        <p:spPr>
          <a:xfrm>
            <a:off x="731520" y="594360"/>
            <a:ext cx="10698480" cy="502920"/>
          </a:xfrm>
          <a:prstGeom prst="rect">
            <a:avLst/>
          </a:prstGeom>
          <a:noFill/>
        </p:spPr>
        <p:txBody>
          <a:bodyPr wrap="square" lIns="0" tIns="0" rIns="0" bIns="0">
            <a:spAutoFit/>
          </a:bodyPr>
          <a:lstStyle/>
          <a:p>
            <a:pPr>
              <a:defRPr sz="2100" b="1">
                <a:solidFill>
                  <a:srgbClr val="F8FAFC"/>
                </a:solidFill>
              </a:defRPr>
            </a:pPr>
            <a:r>
              <a:t>Traditional Approaches vs. PulmoVision AI</a:t>
            </a:r>
          </a:p>
        </p:txBody>
      </p:sp>
      <p:sp>
        <p:nvSpPr>
          <p:cNvPr id="5" name="TextBox 4"/>
          <p:cNvSpPr txBox="1"/>
          <p:nvPr/>
        </p:nvSpPr>
        <p:spPr>
          <a:xfrm>
            <a:off x="731520" y="1115568"/>
            <a:ext cx="7772400" cy="320040"/>
          </a:xfrm>
          <a:prstGeom prst="rect">
            <a:avLst/>
          </a:prstGeom>
          <a:noFill/>
        </p:spPr>
        <p:txBody>
          <a:bodyPr wrap="square" lIns="0" tIns="0" rIns="0" bIns="0">
            <a:spAutoFit/>
          </a:bodyPr>
          <a:lstStyle/>
          <a:p>
            <a:pPr>
              <a:defRPr sz="1100">
                <a:solidFill>
                  <a:srgbClr val="94A3B8"/>
                </a:solidFill>
              </a:defRPr>
            </a:pPr>
            <a:r>
              <a:t>Direct side-by-side comparison across diagnostic granularity, latency, resolution, and clinical usability</a:t>
            </a:r>
          </a:p>
        </p:txBody>
      </p:sp>
      <p:graphicFrame>
        <p:nvGraphicFramePr>
          <p:cNvPr id="6" name="Table 5"/>
          <p:cNvGraphicFramePr>
            <a:graphicFrameLocks noGrp="1"/>
          </p:cNvGraphicFramePr>
          <p:nvPr/>
        </p:nvGraphicFramePr>
        <p:xfrm>
          <a:off x="731520" y="1645920"/>
          <a:ext cx="10698480" cy="4572000"/>
        </p:xfrm>
        <a:graphic>
          <a:graphicData uri="http://schemas.openxmlformats.org/drawingml/2006/table">
            <a:tbl>
              <a:tblPr firstRow="1" bandRow="1">
                <a:tableStyleId>{5C22544A-7EE6-4342-B048-85BDC9FD1C3A}</a:tableStyleId>
              </a:tblPr>
              <a:tblGrid>
                <a:gridCol w="2286000"/>
                <a:gridCol w="2743200"/>
                <a:gridCol w="2743200"/>
                <a:gridCol w="2926080"/>
              </a:tblGrid>
              <a:tr h="762000">
                <a:tc>
                  <a:txBody>
                    <a:bodyPr/>
                    <a:lstStyle/>
                    <a:p>
                      <a:pPr algn="l">
                        <a:defRPr sz="1100" b="1">
                          <a:solidFill>
                            <a:srgbClr val="F8FAFC"/>
                          </a:solidFill>
                        </a:defRPr>
                      </a:pPr>
                      <a:r>
                        <a:t>Evaluation Criteria</a:t>
                      </a:r>
                    </a:p>
                  </a:txBody>
                  <a:tcPr>
                    <a:solidFill>
                      <a:srgbClr val="1E293B"/>
                    </a:solidFill>
                  </a:tcPr>
                </a:tc>
                <a:tc>
                  <a:txBody>
                    <a:bodyPr/>
                    <a:lstStyle/>
                    <a:p>
                      <a:pPr algn="l">
                        <a:defRPr sz="1100" b="1">
                          <a:solidFill>
                            <a:srgbClr val="F8FAFC"/>
                          </a:solidFill>
                        </a:defRPr>
                      </a:pPr>
                      <a:r>
                        <a:t>Manual PACS Review</a:t>
                      </a:r>
                    </a:p>
                  </a:txBody>
                  <a:tcPr>
                    <a:solidFill>
                      <a:srgbClr val="1E293B"/>
                    </a:solidFill>
                  </a:tcPr>
                </a:tc>
                <a:tc>
                  <a:txBody>
                    <a:bodyPr/>
                    <a:lstStyle/>
                    <a:p>
                      <a:pPr algn="l">
                        <a:defRPr sz="1100" b="1">
                          <a:solidFill>
                            <a:srgbClr val="F8FAFC"/>
                          </a:solidFill>
                        </a:defRPr>
                      </a:pPr>
                      <a:r>
                        <a:t>Traditional CAD / Academic CNNs</a:t>
                      </a:r>
                    </a:p>
                  </a:txBody>
                  <a:tcPr>
                    <a:solidFill>
                      <a:srgbClr val="1E293B"/>
                    </a:solidFill>
                  </a:tcPr>
                </a:tc>
                <a:tc>
                  <a:txBody>
                    <a:bodyPr/>
                    <a:lstStyle/>
                    <a:p>
                      <a:pPr algn="l">
                        <a:defRPr sz="1100" b="1">
                          <a:solidFill>
                            <a:srgbClr val="F8FAFC"/>
                          </a:solidFill>
                        </a:defRPr>
                      </a:pPr>
                      <a:r>
                        <a:t>PulmoVision AI (Our CRSP)</a:t>
                      </a:r>
                    </a:p>
                  </a:txBody>
                  <a:tcPr>
                    <a:solidFill>
                      <a:srgbClr val="0E7490"/>
                    </a:solidFill>
                  </a:tcPr>
                </a:tc>
              </a:tr>
              <a:tr h="762000">
                <a:tc>
                  <a:txBody>
                    <a:bodyPr/>
                    <a:lstStyle/>
                    <a:p>
                      <a:pPr algn="l">
                        <a:defRPr sz="950" b="1">
                          <a:solidFill>
                            <a:srgbClr val="0EA5E9"/>
                          </a:solidFill>
                        </a:defRPr>
                      </a:pPr>
                      <a:r>
                        <a:t>Output Granularity</a:t>
                      </a:r>
                    </a:p>
                  </a:txBody>
                  <a:tcPr>
                    <a:solidFill>
                      <a:srgbClr val="161E2E"/>
                    </a:solidFill>
                  </a:tcPr>
                </a:tc>
                <a:tc>
                  <a:txBody>
                    <a:bodyPr/>
                    <a:lstStyle/>
                    <a:p>
                      <a:pPr algn="l">
                        <a:defRPr sz="950">
                          <a:solidFill>
                            <a:srgbClr val="94A3B8"/>
                          </a:solidFill>
                        </a:defRPr>
                      </a:pPr>
                      <a:r>
                        <a:t>Descriptive narrative report (Subjective)</a:t>
                      </a:r>
                    </a:p>
                  </a:txBody>
                  <a:tcPr>
                    <a:solidFill>
                      <a:srgbClr val="161E2E"/>
                    </a:solidFill>
                  </a:tcPr>
                </a:tc>
                <a:tc>
                  <a:txBody>
                    <a:bodyPr/>
                    <a:lstStyle/>
                    <a:p>
                      <a:pPr algn="l">
                        <a:defRPr sz="950">
                          <a:solidFill>
                            <a:srgbClr val="94A3B8"/>
                          </a:solidFill>
                        </a:defRPr>
                      </a:pPr>
                      <a:r>
                        <a:t>Binary flag ('Cancer' vs 'Normal')</a:t>
                      </a:r>
                    </a:p>
                  </a:txBody>
                  <a:tcPr>
                    <a:solidFill>
                      <a:srgbClr val="161E2E"/>
                    </a:solidFill>
                  </a:tcPr>
                </a:tc>
                <a:tc>
                  <a:txBody>
                    <a:bodyPr/>
                    <a:lstStyle/>
                    <a:p>
                      <a:pPr algn="l">
                        <a:defRPr sz="950" b="1">
                          <a:solidFill>
                            <a:srgbClr val="10B981"/>
                          </a:solidFill>
                        </a:defRPr>
                      </a:pPr>
                      <a:r>
                        <a:t>4-Class Histological Subtyping (Adeno, Squamous, Large, Normal)</a:t>
                      </a:r>
                    </a:p>
                  </a:txBody>
                  <a:tcPr>
                    <a:solidFill>
                      <a:srgbClr val="0F2D3C"/>
                    </a:solidFill>
                  </a:tcPr>
                </a:tc>
              </a:tr>
              <a:tr h="762000">
                <a:tc>
                  <a:txBody>
                    <a:bodyPr/>
                    <a:lstStyle/>
                    <a:p>
                      <a:pPr algn="l">
                        <a:defRPr sz="950" b="1">
                          <a:solidFill>
                            <a:srgbClr val="0EA5E9"/>
                          </a:solidFill>
                        </a:defRPr>
                      </a:pPr>
                      <a:r>
                        <a:t>Diagnostic Latency</a:t>
                      </a:r>
                    </a:p>
                  </a:txBody>
                  <a:tcPr>
                    <a:solidFill>
                      <a:srgbClr val="121926"/>
                    </a:solidFill>
                  </a:tcPr>
                </a:tc>
                <a:tc>
                  <a:txBody>
                    <a:bodyPr/>
                    <a:lstStyle/>
                    <a:p>
                      <a:pPr algn="l">
                        <a:defRPr sz="950">
                          <a:solidFill>
                            <a:srgbClr val="94A3B8"/>
                          </a:solidFill>
                        </a:defRPr>
                      </a:pPr>
                      <a:r>
                        <a:t>Hours to multiple days / weeks</a:t>
                      </a:r>
                    </a:p>
                  </a:txBody>
                  <a:tcPr>
                    <a:solidFill>
                      <a:srgbClr val="121926"/>
                    </a:solidFill>
                  </a:tcPr>
                </a:tc>
                <a:tc>
                  <a:txBody>
                    <a:bodyPr/>
                    <a:lstStyle/>
                    <a:p>
                      <a:pPr algn="l">
                        <a:defRPr sz="950">
                          <a:solidFill>
                            <a:srgbClr val="94A3B8"/>
                          </a:solidFill>
                        </a:defRPr>
                      </a:pPr>
                      <a:r>
                        <a:t>2 - 5 min (CAD) / 200ms without reporting</a:t>
                      </a:r>
                    </a:p>
                  </a:txBody>
                  <a:tcPr>
                    <a:solidFill>
                      <a:srgbClr val="121926"/>
                    </a:solidFill>
                  </a:tcPr>
                </a:tc>
                <a:tc>
                  <a:txBody>
                    <a:bodyPr/>
                    <a:lstStyle/>
                    <a:p>
                      <a:pPr algn="l">
                        <a:defRPr sz="950" b="1">
                          <a:solidFill>
                            <a:srgbClr val="10B981"/>
                          </a:solidFill>
                        </a:defRPr>
                      </a:pPr>
                      <a:r>
                        <a:t>&lt; 95 ms instantaneous slice pre-triage</a:t>
                      </a:r>
                    </a:p>
                  </a:txBody>
                  <a:tcPr>
                    <a:solidFill>
                      <a:srgbClr val="0F2D3C"/>
                    </a:solidFill>
                  </a:tcPr>
                </a:tc>
              </a:tr>
              <a:tr h="762000">
                <a:tc>
                  <a:txBody>
                    <a:bodyPr/>
                    <a:lstStyle/>
                    <a:p>
                      <a:pPr algn="l">
                        <a:defRPr sz="950" b="1">
                          <a:solidFill>
                            <a:srgbClr val="0EA5E9"/>
                          </a:solidFill>
                        </a:defRPr>
                      </a:pPr>
                      <a:r>
                        <a:t>CT Input Resolution</a:t>
                      </a:r>
                    </a:p>
                  </a:txBody>
                  <a:tcPr>
                    <a:solidFill>
                      <a:srgbClr val="161E2E"/>
                    </a:solidFill>
                  </a:tcPr>
                </a:tc>
                <a:tc>
                  <a:txBody>
                    <a:bodyPr/>
                    <a:lstStyle/>
                    <a:p>
                      <a:pPr algn="l">
                        <a:defRPr sz="950">
                          <a:solidFill>
                            <a:srgbClr val="94A3B8"/>
                          </a:solidFill>
                        </a:defRPr>
                      </a:pPr>
                      <a:r>
                        <a:t>Full axial slice (Human visual scan)</a:t>
                      </a:r>
                    </a:p>
                  </a:txBody>
                  <a:tcPr>
                    <a:solidFill>
                      <a:srgbClr val="161E2E"/>
                    </a:solidFill>
                  </a:tcPr>
                </a:tc>
                <a:tc>
                  <a:txBody>
                    <a:bodyPr/>
                    <a:lstStyle/>
                    <a:p>
                      <a:pPr algn="l">
                        <a:defRPr sz="950">
                          <a:solidFill>
                            <a:srgbClr val="94A3B8"/>
                          </a:solidFill>
                        </a:defRPr>
                      </a:pPr>
                      <a:r>
                        <a:t>Downscaled to 224x224 (Margin loss)</a:t>
                      </a:r>
                    </a:p>
                  </a:txBody>
                  <a:tcPr>
                    <a:solidFill>
                      <a:srgbClr val="161E2E"/>
                    </a:solidFill>
                  </a:tcPr>
                </a:tc>
                <a:tc>
                  <a:txBody>
                    <a:bodyPr/>
                    <a:lstStyle/>
                    <a:p>
                      <a:pPr algn="l">
                        <a:defRPr sz="950" b="1">
                          <a:solidFill>
                            <a:srgbClr val="10B981"/>
                          </a:solidFill>
                        </a:defRPr>
                      </a:pPr>
                      <a:r>
                        <a:t>350 x 350 x 3 (Preserves micro-spiculations &amp; GGO)</a:t>
                      </a:r>
                    </a:p>
                  </a:txBody>
                  <a:tcPr>
                    <a:solidFill>
                      <a:srgbClr val="0F2D3C"/>
                    </a:solidFill>
                  </a:tcPr>
                </a:tc>
              </a:tr>
              <a:tr h="762000">
                <a:tc>
                  <a:txBody>
                    <a:bodyPr/>
                    <a:lstStyle/>
                    <a:p>
                      <a:pPr algn="l">
                        <a:defRPr sz="950" b="1">
                          <a:solidFill>
                            <a:srgbClr val="0EA5E9"/>
                          </a:solidFill>
                        </a:defRPr>
                      </a:pPr>
                      <a:r>
                        <a:t>Overfitting Defense</a:t>
                      </a:r>
                    </a:p>
                  </a:txBody>
                  <a:tcPr>
                    <a:solidFill>
                      <a:srgbClr val="121926"/>
                    </a:solidFill>
                  </a:tcPr>
                </a:tc>
                <a:tc>
                  <a:txBody>
                    <a:bodyPr/>
                    <a:lstStyle/>
                    <a:p>
                      <a:pPr algn="l">
                        <a:defRPr sz="950">
                          <a:solidFill>
                            <a:srgbClr val="94A3B8"/>
                          </a:solidFill>
                        </a:defRPr>
                      </a:pPr>
                      <a:r>
                        <a:t>N/A (Subject to cognitive fatigue)</a:t>
                      </a:r>
                    </a:p>
                  </a:txBody>
                  <a:tcPr>
                    <a:solidFill>
                      <a:srgbClr val="121926"/>
                    </a:solidFill>
                  </a:tcPr>
                </a:tc>
                <a:tc>
                  <a:txBody>
                    <a:bodyPr/>
                    <a:lstStyle/>
                    <a:p>
                      <a:pPr algn="l">
                        <a:defRPr sz="950">
                          <a:solidFill>
                            <a:srgbClr val="94A3B8"/>
                          </a:solidFill>
                        </a:defRPr>
                      </a:pPr>
                      <a:r>
                        <a:t>Flatten() layer (250k+ dense inputs)</a:t>
                      </a:r>
                    </a:p>
                  </a:txBody>
                  <a:tcPr>
                    <a:solidFill>
                      <a:srgbClr val="121926"/>
                    </a:solidFill>
                  </a:tcPr>
                </a:tc>
                <a:tc>
                  <a:txBody>
                    <a:bodyPr/>
                    <a:lstStyle/>
                    <a:p>
                      <a:pPr algn="l">
                        <a:defRPr sz="950" b="1">
                          <a:solidFill>
                            <a:srgbClr val="10B981"/>
                          </a:solidFill>
                        </a:defRPr>
                      </a:pPr>
                      <a:r>
                        <a:t>Xception Backbone + Global Average Pooling (8k top params)</a:t>
                      </a:r>
                    </a:p>
                  </a:txBody>
                  <a:tcPr>
                    <a:solidFill>
                      <a:srgbClr val="0F2D3C"/>
                    </a:solidFill>
                  </a:tcPr>
                </a:tc>
              </a:tr>
              <a:tr h="762000">
                <a:tc>
                  <a:txBody>
                    <a:bodyPr/>
                    <a:lstStyle/>
                    <a:p>
                      <a:pPr algn="l">
                        <a:defRPr sz="950" b="1">
                          <a:solidFill>
                            <a:srgbClr val="0EA5E9"/>
                          </a:solidFill>
                        </a:defRPr>
                      </a:pPr>
                      <a:r>
                        <a:t>Deployment &amp; Output</a:t>
                      </a:r>
                    </a:p>
                  </a:txBody>
                  <a:tcPr>
                    <a:solidFill>
                      <a:srgbClr val="161E2E"/>
                    </a:solidFill>
                  </a:tcPr>
                </a:tc>
                <a:tc>
                  <a:txBody>
                    <a:bodyPr/>
                    <a:lstStyle/>
                    <a:p>
                      <a:pPr algn="l">
                        <a:defRPr sz="950">
                          <a:solidFill>
                            <a:srgbClr val="94A3B8"/>
                          </a:solidFill>
                        </a:defRPr>
                      </a:pPr>
                      <a:r>
                        <a:t>Standard PACS workstation</a:t>
                      </a:r>
                    </a:p>
                  </a:txBody>
                  <a:tcPr>
                    <a:solidFill>
                      <a:srgbClr val="161E2E"/>
                    </a:solidFill>
                  </a:tcPr>
                </a:tc>
                <a:tc>
                  <a:txBody>
                    <a:bodyPr/>
                    <a:lstStyle/>
                    <a:p>
                      <a:pPr algn="l">
                        <a:defRPr sz="950">
                          <a:solidFill>
                            <a:srgbClr val="94A3B8"/>
                          </a:solidFill>
                        </a:defRPr>
                      </a:pPr>
                      <a:r>
                        <a:t>Academic notebook / proprietary closed box</a:t>
                      </a:r>
                    </a:p>
                  </a:txBody>
                  <a:tcPr>
                    <a:solidFill>
                      <a:srgbClr val="161E2E"/>
                    </a:solidFill>
                  </a:tcPr>
                </a:tc>
                <a:tc>
                  <a:txBody>
                    <a:bodyPr/>
                    <a:lstStyle/>
                    <a:p>
                      <a:pPr algn="l">
                        <a:defRPr sz="950" b="1">
                          <a:solidFill>
                            <a:srgbClr val="10B981"/>
                          </a:solidFill>
                        </a:defRPr>
                      </a:pPr>
                      <a:r>
                        <a:t>Standalone CLI + Auto Visual Diagnostic Report (PNG)</a:t>
                      </a:r>
                    </a:p>
                  </a:txBody>
                  <a:tcPr>
                    <a:solidFill>
                      <a:srgbClr val="0F2D3C"/>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